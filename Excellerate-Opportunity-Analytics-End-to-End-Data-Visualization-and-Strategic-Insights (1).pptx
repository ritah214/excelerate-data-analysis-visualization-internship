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6" r:id="rId3"/>
    <p:sldId id="257" r:id="rId4"/>
    <p:sldId id="258" r:id="rId5"/>
    <p:sldId id="259" r:id="rId6"/>
    <p:sldId id="260" r:id="rId7"/>
    <p:sldId id="267" r:id="rId8"/>
    <p:sldId id="261" r:id="rId9"/>
    <p:sldId id="262" r:id="rId10"/>
    <p:sldId id="268" r:id="rId11"/>
    <p:sldId id="275" r:id="rId12"/>
    <p:sldId id="276" r:id="rId13"/>
    <p:sldId id="264" r:id="rId14"/>
    <p:sldId id="265" r:id="rId15"/>
    <p:sldId id="270" r:id="rId16"/>
  </p:sldIdLst>
  <p:sldSz cx="12192000" cy="6858000"/>
  <p:notesSz cx="6858000" cy="12192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Crimson Pro SemiBold" panose="020B0604020202020204" charset="0"/>
      <p:regular r:id="rId22"/>
    </p:embeddedFont>
    <p:embeddedFont>
      <p:font typeface="Heebo" pitchFamily="2" charset="-79"/>
      <p:regular r:id="rId23"/>
      <p:bold r:id="rId24"/>
    </p:embeddedFont>
    <p:embeddedFont>
      <p:font typeface="Heebo Bold" pitchFamily="2" charset="-79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B49061-5BFD-447D-BC2A-50661DFA2965}">
          <p14:sldIdLst>
            <p14:sldId id="256"/>
            <p14:sldId id="266"/>
            <p14:sldId id="257"/>
          </p14:sldIdLst>
        </p14:section>
        <p14:section name="Untitled Section" id="{94830F50-CE14-4628-A26C-D6E2045FF95C}">
          <p14:sldIdLst>
            <p14:sldId id="258"/>
            <p14:sldId id="259"/>
            <p14:sldId id="260"/>
            <p14:sldId id="267"/>
            <p14:sldId id="261"/>
            <p14:sldId id="262"/>
            <p14:sldId id="268"/>
            <p14:sldId id="275"/>
            <p14:sldId id="276"/>
            <p14:sldId id="264"/>
            <p14:sldId id="265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479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5B680-558D-FD9A-D1D2-A141459E5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BD95A-D0D6-7435-ED58-15C1B7B90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378D1-37D3-27DE-AB20-64769C46E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01E7F-CD4F-AB3E-2AA3-9C6E876864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96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8C50A-4446-F791-3AA2-E0B18F81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99968-A4A0-33D4-F8D2-E21A4D0AE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F6F19-4360-DF58-5E2C-439F9661E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79627-1A0C-6B0D-FA18-FC64275B6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63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8BDBD-915F-7AA6-D41C-62B41BD73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D074A-3A16-CDC6-D965-C5860B12B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3A5D2-051B-6300-E4E8-473078079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C35A6-D24B-7E48-5179-D3106FC9A4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97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C52C4-8601-5041-4473-5339B90D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178F8-561D-B842-D07B-0F56F273E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99E70-0ED7-563B-BB57-320AFF348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87CA5-FC35-B0AD-A6DD-17A89A35A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76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00100-00C3-F07B-4CB2-6336ED584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3EAF-C294-48A3-85D5-8B14405EAB7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C5C6BD-1487-FED0-02D2-E26F6B13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51521-E164-1A60-1285-5B0B33F3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4528-2125-4EB6-925A-25BEE496C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4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jjkGyU82bBa6_xHF6K4Yc3uCjUgvOyP-/view?usp=drive_link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gGeELwIyVN6-so5Mhawq9UAVP_JlL5Bl/view?usp=drive_link" TargetMode="External"/><Relationship Id="rId5" Type="http://schemas.openxmlformats.org/officeDocument/2006/relationships/hyperlink" Target="https://drive.google.com/file/d/1Png1z1DVeZGIA9_cPwTGKfqATwzvdFTA/view?usp=drive_link" TargetMode="External"/><Relationship Id="rId4" Type="http://schemas.openxmlformats.org/officeDocument/2006/relationships/hyperlink" Target="https://drive.google.com/file/d/1_h5Dj7dsgzCYNnmZUFUmI5vvOHiZTodQ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7093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Opportunity Analytics: End-to-End Data Visualization &amp; Strategic Insights</a:t>
            </a:r>
            <a:endParaRPr lang="en-US" sz="3250"/>
          </a:p>
        </p:txBody>
      </p:sp>
      <p:sp>
        <p:nvSpPr>
          <p:cNvPr id="3" name="Text 1"/>
          <p:cNvSpPr/>
          <p:nvPr/>
        </p:nvSpPr>
        <p:spPr>
          <a:xfrm>
            <a:off x="661475" y="2446635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Final Presentation &amp; Internship Reflection Deck | Team 7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661475" y="299442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2415" y="3240782"/>
            <a:ext cx="5470785" cy="2270026"/>
          </a:xfrm>
          <a:prstGeom prst="roundRect">
            <a:avLst>
              <a:gd name="adj" fmla="val 1093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340608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Leadership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07710" y="3829844"/>
            <a:ext cx="5140196" cy="109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Team Lead:</a:t>
            </a:r>
            <a:r>
              <a:rPr lang="en-US" sz="130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Niranjan Kumar Dasari</a:t>
            </a:r>
            <a:endParaRPr lang="en-US" sz="130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Project Manager:</a:t>
            </a:r>
            <a:r>
              <a:rPr lang="en-US" sz="130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Ademola Alaanu</a:t>
            </a:r>
            <a:endParaRPr lang="en-US" sz="13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Project Lead:</a:t>
            </a:r>
            <a:r>
              <a:rPr lang="en-US" sz="130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Tumo Matsena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6303904" y="340608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Team Members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303904" y="3829844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Ritah Munyeti · Madhuri Yanamala · Mounika C · Chinyere Cynthia Okwara · Vanmathi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303904" y="4586387"/>
            <a:ext cx="5232666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03904" y="4832747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 Visualization Trainee Early Remote Internship</a:t>
            </a:r>
            <a:endParaRPr lang="en-US" sz="13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August 2022 – May 2026 Dataset Analysis</a:t>
            </a:r>
            <a:endParaRPr lang="en-US" sz="13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FDE56-DA5E-7466-FED6-2DC014095EBC}"/>
              </a:ext>
            </a:extLst>
          </p:cNvPr>
          <p:cNvSpPr txBox="1"/>
          <p:nvPr/>
        </p:nvSpPr>
        <p:spPr>
          <a:xfrm>
            <a:off x="5957623" y="585153"/>
            <a:ext cx="27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  <a:endParaRPr lang="en-Z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EE1D0-D572-0A74-9470-1E3B4A4A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4177B7-381E-D010-59B8-62D35D4CA337}"/>
              </a:ext>
            </a:extLst>
          </p:cNvPr>
          <p:cNvSpPr/>
          <p:nvPr/>
        </p:nvSpPr>
        <p:spPr>
          <a:xfrm>
            <a:off x="661475" y="467122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Objectives</a:t>
            </a:r>
            <a:endParaRPr lang="en-US"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DA0E28-1044-5573-51D3-3AD33A896FBB}"/>
              </a:ext>
            </a:extLst>
          </p:cNvPr>
          <p:cNvSpPr/>
          <p:nvPr/>
        </p:nvSpPr>
        <p:spPr>
          <a:xfrm>
            <a:off x="661475" y="1145282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b="1">
                <a:solidFill>
                  <a:srgbClr val="4C4C4D"/>
                </a:solidFill>
                <a:latin typeface="Heebo Bold" pitchFamily="34" charset="0"/>
                <a:cs typeface="Heebo Bold" pitchFamily="34" charset="-120"/>
              </a:rPr>
              <a:t>The primary objectives of this analysis are to:</a:t>
            </a:r>
            <a:endParaRPr lang="en-US" sz="140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2C961EC-7EA6-B1C8-E83B-11610DEF2F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95748"/>
            <a:ext cx="10868745" cy="84345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8B6586E-46BE-ABFE-B472-775C182777C9}"/>
              </a:ext>
            </a:extLst>
          </p:cNvPr>
          <p:cNvSpPr/>
          <p:nvPr/>
        </p:nvSpPr>
        <p:spPr>
          <a:xfrm>
            <a:off x="856236" y="1985665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65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759E664-3035-4F19-081B-907265D0674D}"/>
              </a:ext>
            </a:extLst>
          </p:cNvPr>
          <p:cNvSpPr/>
          <p:nvPr/>
        </p:nvSpPr>
        <p:spPr>
          <a:xfrm>
            <a:off x="1362239" y="1855291"/>
            <a:ext cx="1000844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Ensure Data Integrity</a:t>
            </a:r>
            <a:endParaRPr lang="en-US" sz="14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83A58C5-5FEB-5FB9-FDDC-B7E96A4CFCB0}"/>
              </a:ext>
            </a:extLst>
          </p:cNvPr>
          <p:cNvSpPr/>
          <p:nvPr/>
        </p:nvSpPr>
        <p:spPr>
          <a:xfrm>
            <a:off x="1362239" y="2146498"/>
            <a:ext cx="1000844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Standardize raw operational data, handle nulls/outliers, and ensure analytical readiness across all 5,728 records.</a:t>
            </a:r>
            <a:endParaRPr lang="en-US" sz="110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793BF744-93DA-FAC3-A1B1-86479CFE27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58666"/>
            <a:ext cx="10868745" cy="843459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13FEFD-F099-2A19-18FB-96423113A7CF}"/>
              </a:ext>
            </a:extLst>
          </p:cNvPr>
          <p:cNvSpPr/>
          <p:nvPr/>
        </p:nvSpPr>
        <p:spPr>
          <a:xfrm>
            <a:off x="856236" y="2948583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65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72AA7FD-22AC-7202-9872-AE2192649800}"/>
              </a:ext>
            </a:extLst>
          </p:cNvPr>
          <p:cNvSpPr/>
          <p:nvPr/>
        </p:nvSpPr>
        <p:spPr>
          <a:xfrm>
            <a:off x="1362239" y="2818209"/>
            <a:ext cx="1000844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Conduct Trend Analysis</a:t>
            </a:r>
            <a:endParaRPr lang="en-US" sz="1400" b="1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7489835-4309-EA32-6885-A30EE805572C}"/>
              </a:ext>
            </a:extLst>
          </p:cNvPr>
          <p:cNvSpPr/>
          <p:nvPr/>
        </p:nvSpPr>
        <p:spPr>
          <a:xfrm>
            <a:off x="1362239" y="3109416"/>
            <a:ext cx="1000844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Analyze opportunity creation and applicant sign-up trends over time from Q3 2022 through Q2 2026.</a:t>
            </a:r>
            <a:endParaRPr lang="en-US" sz="110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80209072-A79B-1E1C-A28A-623A471F14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21584"/>
            <a:ext cx="10868745" cy="843459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4D63813D-C522-649E-4F1E-1196B47F254B}"/>
              </a:ext>
            </a:extLst>
          </p:cNvPr>
          <p:cNvSpPr/>
          <p:nvPr/>
        </p:nvSpPr>
        <p:spPr>
          <a:xfrm>
            <a:off x="856236" y="3911501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65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81789A8-4C9E-F825-EA91-A98EF4D89D2A}"/>
              </a:ext>
            </a:extLst>
          </p:cNvPr>
          <p:cNvSpPr/>
          <p:nvPr/>
        </p:nvSpPr>
        <p:spPr>
          <a:xfrm>
            <a:off x="1362239" y="3781127"/>
            <a:ext cx="1000844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Evaluate Channel &amp; Delivery</a:t>
            </a:r>
            <a:endParaRPr lang="en-US" sz="140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EE85A2F-90A2-56DC-8E50-0510C2637AB1}"/>
              </a:ext>
            </a:extLst>
          </p:cNvPr>
          <p:cNvSpPr/>
          <p:nvPr/>
        </p:nvSpPr>
        <p:spPr>
          <a:xfrm>
            <a:off x="1362239" y="4072334"/>
            <a:ext cx="1000844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 distribution of opportunities across virtual vs. remote modalities and opportunity types to understand platform reach.</a:t>
            </a:r>
            <a:endParaRPr lang="en-US" sz="1100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4202073E-95DC-A211-8883-1E0DD9C365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84502"/>
            <a:ext cx="10868745" cy="843459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EB6B3BE7-208A-6C8C-A2A5-A7BC7CE85ACD}"/>
              </a:ext>
            </a:extLst>
          </p:cNvPr>
          <p:cNvSpPr/>
          <p:nvPr/>
        </p:nvSpPr>
        <p:spPr>
          <a:xfrm>
            <a:off x="856236" y="4874419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65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2BA1E2A3-F53E-9DE3-4EAB-699EDE13B4B3}"/>
              </a:ext>
            </a:extLst>
          </p:cNvPr>
          <p:cNvSpPr/>
          <p:nvPr/>
        </p:nvSpPr>
        <p:spPr>
          <a:xfrm>
            <a:off x="1362239" y="4744045"/>
            <a:ext cx="1000844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Assess Scholarship Allocation</a:t>
            </a:r>
            <a:endParaRPr lang="en-US" sz="140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CEBA6C9-48BC-52D9-53F1-8822ACA7339A}"/>
              </a:ext>
            </a:extLst>
          </p:cNvPr>
          <p:cNvSpPr/>
          <p:nvPr/>
        </p:nvSpPr>
        <p:spPr>
          <a:xfrm>
            <a:off x="1362239" y="5035252"/>
            <a:ext cx="1000844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Measure financial aid distribution, currency reliance, and affordability metrics across the ~$920K scholarship pool.</a:t>
            </a:r>
            <a:endParaRPr lang="en-US" sz="1100"/>
          </a:p>
        </p:txBody>
      </p:sp>
      <p:pic>
        <p:nvPicPr>
          <p:cNvPr id="20" name="Image 4" descr="preencoded.png">
            <a:extLst>
              <a:ext uri="{FF2B5EF4-FFF2-40B4-BE49-F238E27FC236}">
                <a16:creationId xmlns:a16="http://schemas.microsoft.com/office/drawing/2014/main" id="{BB369539-D620-4003-92AD-96BB78F458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547420"/>
            <a:ext cx="10868745" cy="843459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4A3BAC9C-97EB-2777-6B18-AD38F8461B0C}"/>
              </a:ext>
            </a:extLst>
          </p:cNvPr>
          <p:cNvSpPr/>
          <p:nvPr/>
        </p:nvSpPr>
        <p:spPr>
          <a:xfrm>
            <a:off x="856236" y="5837337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65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E68EF2DE-EB63-D549-AD32-10E7FECA8255}"/>
              </a:ext>
            </a:extLst>
          </p:cNvPr>
          <p:cNvSpPr/>
          <p:nvPr/>
        </p:nvSpPr>
        <p:spPr>
          <a:xfrm>
            <a:off x="1362239" y="5706963"/>
            <a:ext cx="1000844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Deliver Actionable Strategy</a:t>
            </a:r>
            <a:endParaRPr lang="en-US" sz="140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B6E103FE-C1FF-B5DE-0B9E-38ED94365DF9}"/>
              </a:ext>
            </a:extLst>
          </p:cNvPr>
          <p:cNvSpPr/>
          <p:nvPr/>
        </p:nvSpPr>
        <p:spPr>
          <a:xfrm>
            <a:off x="1362239" y="5998170"/>
            <a:ext cx="10008441" cy="263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 data-driven recommendations to drive year-round platform growth and reduce seasonal volatility.</a:t>
            </a:r>
            <a:endParaRPr lang="en-US" sz="11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AC81C6-ECA4-1432-3D2D-8FE4C5E56280}"/>
              </a:ext>
            </a:extLst>
          </p:cNvPr>
          <p:cNvSpPr txBox="1"/>
          <p:nvPr/>
        </p:nvSpPr>
        <p:spPr>
          <a:xfrm>
            <a:off x="6215616" y="977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929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7122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61475" y="1145282"/>
            <a:ext cx="10868745" cy="5032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2800">
                <a:solidFill>
                  <a:srgbClr val="4C4C4D"/>
                </a:solidFill>
                <a:latin typeface="Heebo" pitchFamily="2" charset="-79"/>
                <a:ea typeface="Heebo Bold" pitchFamily="34" charset="-122"/>
                <a:cs typeface="Heebo" pitchFamily="2" charset="-79"/>
              </a:rPr>
              <a:t>This report presents a</a:t>
            </a:r>
            <a:r>
              <a:rPr lang="en-US" sz="2800" b="1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Full Lifecycle Analysis of 5,728 cleaned opportunity records</a:t>
            </a:r>
            <a:r>
              <a:rPr lang="en-US" sz="28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The dataset includes internships, competitions, events, masterclasses, and programs.</a:t>
            </a:r>
          </a:p>
          <a:p>
            <a:pPr marL="0" indent="0" algn="l">
              <a:lnSpc>
                <a:spcPct val="123000"/>
              </a:lnSpc>
              <a:buNone/>
            </a:pPr>
            <a:endParaRPr lang="en-US" sz="2800">
              <a:solidFill>
                <a:srgbClr val="4C4C4D"/>
              </a:solidFill>
              <a:latin typeface="Heebo" pitchFamily="34" charset="0"/>
              <a:cs typeface="Heebo" pitchFamily="34" charset="-120"/>
            </a:endParaRPr>
          </a:p>
          <a:p>
            <a:pPr marL="0" indent="0" algn="l">
              <a:lnSpc>
                <a:spcPct val="123000"/>
              </a:lnSpc>
              <a:buNone/>
            </a:pPr>
            <a:r>
              <a:rPr lang="en-US" sz="280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The analysis was conducted to assess platform growth, distribution modes, funding models, and seasonal engagement, with the goal of identifying trends and insights to support informed decision-making. An interactive dashboard was developed to consolidate findings and provide clear visualizations of key performance areas.</a:t>
            </a:r>
          </a:p>
          <a:p>
            <a:pPr marL="0" indent="0" algn="l">
              <a:lnSpc>
                <a:spcPct val="123000"/>
              </a:lnSpc>
              <a:buNone/>
            </a:pPr>
            <a:endParaRPr lang="en-US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B0617E-D02A-2511-9C2A-44A45A13F328}"/>
              </a:ext>
            </a:extLst>
          </p:cNvPr>
          <p:cNvSpPr txBox="1"/>
          <p:nvPr/>
        </p:nvSpPr>
        <p:spPr>
          <a:xfrm>
            <a:off x="5945004" y="977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Z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8355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Architecture &amp; Data Cleaning Methodology</a:t>
            </a:r>
            <a:endParaRPr lang="en-US" sz="3050"/>
          </a:p>
        </p:txBody>
      </p:sp>
      <p:sp>
        <p:nvSpPr>
          <p:cNvPr id="4" name="Text 2"/>
          <p:cNvSpPr/>
          <p:nvPr/>
        </p:nvSpPr>
        <p:spPr>
          <a:xfrm>
            <a:off x="705328" y="1352352"/>
            <a:ext cx="346711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 Dataset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05328" y="2958405"/>
            <a:ext cx="3467112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5328" y="3184525"/>
            <a:ext cx="3467112" cy="624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 malformed record removed</a:t>
            </a:r>
            <a:endParaRPr lang="en-US" sz="120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duplicates retained</a:t>
            </a:r>
            <a:endParaRPr lang="en-US" sz="12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330" y="3261220"/>
            <a:ext cx="235639" cy="23564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7708" y="3267178"/>
            <a:ext cx="641988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Whitespace &amp; Case Standardization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1037708" y="3486488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Lowercased all schema attributes and normalized categorical values (e.g., standardizing "Work From Home", "Virtual", "On-site").</a:t>
            </a:r>
            <a:endParaRPr lang="en-US" sz="14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330" y="4179836"/>
            <a:ext cx="235639" cy="2356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44313" y="4179836"/>
            <a:ext cx="641988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Handling Missing Data</a:t>
            </a:r>
            <a:endParaRPr lang="en-US" sz="1600"/>
          </a:p>
        </p:txBody>
      </p:sp>
      <p:sp>
        <p:nvSpPr>
          <p:cNvPr id="14" name="Text 10"/>
          <p:cNvSpPr/>
          <p:nvPr/>
        </p:nvSpPr>
        <p:spPr>
          <a:xfrm>
            <a:off x="1044313" y="4404950"/>
            <a:ext cx="1086874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Standardized missing location attributes as "Unknown" and converted null placeholders into SQL/Python-compliant null values.</a:t>
            </a:r>
            <a:endParaRPr lang="en-US" sz="14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141364"/>
            <a:ext cx="235639" cy="2356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4313" y="5126483"/>
            <a:ext cx="641988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Outlier Mitigation</a:t>
            </a:r>
            <a:endParaRPr lang="en-US" sz="1600"/>
          </a:p>
        </p:txBody>
      </p:sp>
      <p:sp>
        <p:nvSpPr>
          <p:cNvPr id="17" name="Text 12"/>
          <p:cNvSpPr/>
          <p:nvPr/>
        </p:nvSpPr>
        <p:spPr>
          <a:xfrm>
            <a:off x="1037708" y="5395751"/>
            <a:ext cx="1049215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Filtered out realistic entry errors (e.g., listing values exceeding $10M) to maintain robust average calculations.</a:t>
            </a:r>
            <a:endParaRPr lang="en-US" sz="140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527" y="6090938"/>
            <a:ext cx="235639" cy="23564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37708" y="6079499"/>
            <a:ext cx="641988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Date Standardization</a:t>
            </a:r>
            <a:endParaRPr lang="en-US" sz="1600"/>
          </a:p>
        </p:txBody>
      </p:sp>
      <p:sp>
        <p:nvSpPr>
          <p:cNvPr id="20" name="Text 14"/>
          <p:cNvSpPr/>
          <p:nvPr/>
        </p:nvSpPr>
        <p:spPr>
          <a:xfrm>
            <a:off x="1037708" y="6386552"/>
            <a:ext cx="1049215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Converted all timeline markers into standard YYYY-MM-DD formats for consistent temporal analysis</a:t>
            </a:r>
            <a:r>
              <a:rPr lang="en-US" sz="12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CE5E0C-EE03-823C-ACF7-CA612647BD92}"/>
              </a:ext>
            </a:extLst>
          </p:cNvPr>
          <p:cNvSpPr txBox="1"/>
          <p:nvPr/>
        </p:nvSpPr>
        <p:spPr>
          <a:xfrm>
            <a:off x="606391" y="2337247"/>
            <a:ext cx="11029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latin typeface="Crimson Pro SemiBold" panose="020B0604020202020204" charset="0"/>
              </a:rPr>
              <a:t>Data Cleaning and Preparation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555A93-1505-34B3-894E-B9E601DAB216}"/>
              </a:ext>
            </a:extLst>
          </p:cNvPr>
          <p:cNvSpPr txBox="1"/>
          <p:nvPr/>
        </p:nvSpPr>
        <p:spPr>
          <a:xfrm>
            <a:off x="606391" y="2669335"/>
            <a:ext cx="8254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Heebo" pitchFamily="2" charset="-79"/>
                <a:cs typeface="Heebo" pitchFamily="2" charset="-79"/>
              </a:rPr>
              <a:t>Before analysis, the raw dataset was cleaned to ensure accuracy and consistency. </a:t>
            </a:r>
            <a:r>
              <a:rPr lang="en-US" sz="1400" b="1">
                <a:latin typeface="Heebo" pitchFamily="2" charset="-79"/>
                <a:cs typeface="Heebo" pitchFamily="2" charset="-79"/>
              </a:rPr>
              <a:t>The Data Preparation and Cleaning Workflow</a:t>
            </a:r>
            <a:r>
              <a:rPr lang="en-US" sz="1400">
                <a:latin typeface="Heebo" pitchFamily="2" charset="-79"/>
                <a:cs typeface="Heebo" pitchFamily="2" charset="-79"/>
              </a:rPr>
              <a:t> included:</a:t>
            </a:r>
            <a:endParaRPr lang="en-ZA" sz="1400">
              <a:latin typeface="Heebo" pitchFamily="2" charset="-79"/>
              <a:cs typeface="Heebo" pitchFamily="2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7C3CFC-1DC4-350A-6043-5E0556D8E954}"/>
              </a:ext>
            </a:extLst>
          </p:cNvPr>
          <p:cNvSpPr txBox="1"/>
          <p:nvPr/>
        </p:nvSpPr>
        <p:spPr>
          <a:xfrm>
            <a:off x="606392" y="996864"/>
            <a:ext cx="7144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rimson Pro SemiBold" panose="020B0604020202020204" charset="0"/>
              </a:rPr>
              <a:t>Dataset Overview and Tools Used</a:t>
            </a:r>
            <a:endParaRPr lang="en-ZA" sz="1600">
              <a:latin typeface="Crimson Pro SemiBold" panose="020B060402020202020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656CD0-22C9-252C-3093-5FD381DA92FA}"/>
              </a:ext>
            </a:extLst>
          </p:cNvPr>
          <p:cNvSpPr txBox="1"/>
          <p:nvPr/>
        </p:nvSpPr>
        <p:spPr>
          <a:xfrm>
            <a:off x="606391" y="1294902"/>
            <a:ext cx="82545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Heebo" pitchFamily="2" charset="-79"/>
                <a:cs typeface="Heebo" pitchFamily="2" charset="-79"/>
              </a:rPr>
              <a:t>The analysis was conducted on a dataset of 5,728 opportunity records from Q3 2022 to Q2 2026</a:t>
            </a:r>
          </a:p>
          <a:p>
            <a:endParaRPr lang="en-US" sz="1400">
              <a:latin typeface="Heebo" pitchFamily="2" charset="-79"/>
              <a:cs typeface="Heebo" pitchFamily="2" charset="-79"/>
            </a:endParaRPr>
          </a:p>
          <a:p>
            <a:r>
              <a:rPr lang="en-US" sz="1400" b="1">
                <a:latin typeface="Heebo" pitchFamily="2" charset="-79"/>
                <a:cs typeface="Heebo" pitchFamily="2" charset="-79"/>
              </a:rPr>
              <a:t>Tools Used: Excel, Power Bi, Python</a:t>
            </a:r>
            <a:r>
              <a:rPr lang="en-US" sz="1400">
                <a:latin typeface="Heebo" pitchFamily="2" charset="-79"/>
                <a:cs typeface="Heebo" pitchFamily="2" charset="-79"/>
              </a:rPr>
              <a:t> for data cleaning, analysis, and visualization.</a:t>
            </a:r>
            <a:endParaRPr lang="en-ZA" sz="140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070A54-7FA7-98D1-D8D2-D710D6FF3915}"/>
              </a:ext>
            </a:extLst>
          </p:cNvPr>
          <p:cNvSpPr txBox="1"/>
          <p:nvPr/>
        </p:nvSpPr>
        <p:spPr>
          <a:xfrm>
            <a:off x="5945004" y="118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  <a:endParaRPr lang="en-Z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0520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Performance Metrics &amp; Data Overview</a:t>
            </a:r>
            <a:endParaRPr lang="en-US" sz="2750"/>
          </a:p>
        </p:txBody>
      </p:sp>
      <p:sp>
        <p:nvSpPr>
          <p:cNvPr id="3" name="Text 1"/>
          <p:cNvSpPr/>
          <p:nvPr/>
        </p:nvSpPr>
        <p:spPr>
          <a:xfrm>
            <a:off x="1063400" y="1418927"/>
            <a:ext cx="4555713" cy="4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5,728</a:t>
            </a:r>
            <a:endParaRPr lang="en-US" sz="3650"/>
          </a:p>
        </p:txBody>
      </p:sp>
      <p:sp>
        <p:nvSpPr>
          <p:cNvPr id="4" name="Text 2"/>
          <p:cNvSpPr/>
          <p:nvPr/>
        </p:nvSpPr>
        <p:spPr>
          <a:xfrm>
            <a:off x="661475" y="2042716"/>
            <a:ext cx="535966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Listings</a:t>
            </a:r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661475" y="2333923"/>
            <a:ext cx="5359663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Analysis-ready opportunity records across the full dataset period.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6572482" y="1418927"/>
            <a:ext cx="4555713" cy="4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$920K</a:t>
            </a:r>
            <a:endParaRPr lang="en-US" sz="3650"/>
          </a:p>
        </p:txBody>
      </p:sp>
      <p:sp>
        <p:nvSpPr>
          <p:cNvPr id="7" name="Text 5"/>
          <p:cNvSpPr/>
          <p:nvPr/>
        </p:nvSpPr>
        <p:spPr>
          <a:xfrm>
            <a:off x="6170458" y="2042716"/>
            <a:ext cx="535976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Scholarship Pool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6170458" y="2333923"/>
            <a:ext cx="535976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value of financial aid distributed across eligible listings.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063400" y="2851150"/>
            <a:ext cx="4555713" cy="4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$120</a:t>
            </a:r>
            <a:endParaRPr lang="en-US" sz="3650"/>
          </a:p>
        </p:txBody>
      </p:sp>
      <p:sp>
        <p:nvSpPr>
          <p:cNvPr id="10" name="Text 8"/>
          <p:cNvSpPr/>
          <p:nvPr/>
        </p:nvSpPr>
        <p:spPr>
          <a:xfrm>
            <a:off x="661475" y="3474938"/>
            <a:ext cx="535966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Median Award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661475" y="3766145"/>
            <a:ext cx="5359663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Median scholarship value; mean award stands at $176 per listing.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6572482" y="2851150"/>
            <a:ext cx="4555713" cy="4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78.9%</a:t>
            </a:r>
            <a:endParaRPr lang="en-US" sz="3650"/>
          </a:p>
        </p:txBody>
      </p:sp>
      <p:sp>
        <p:nvSpPr>
          <p:cNvPr id="13" name="Text 11"/>
          <p:cNvSpPr/>
          <p:nvPr/>
        </p:nvSpPr>
        <p:spPr>
          <a:xfrm>
            <a:off x="6170458" y="3474938"/>
            <a:ext cx="535976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Free Listings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6170458" y="3766145"/>
            <a:ext cx="535976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Share of all opportunities carrying no participation fee.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063400" y="4283373"/>
            <a:ext cx="4555713" cy="4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74.6%</a:t>
            </a:r>
            <a:endParaRPr lang="en-US" sz="3650"/>
          </a:p>
        </p:txBody>
      </p:sp>
      <p:sp>
        <p:nvSpPr>
          <p:cNvPr id="16" name="Text 14"/>
          <p:cNvSpPr/>
          <p:nvPr/>
        </p:nvSpPr>
        <p:spPr>
          <a:xfrm>
            <a:off x="661475" y="4907161"/>
            <a:ext cx="535966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Remote Delivery</a:t>
            </a:r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661475" y="5198368"/>
            <a:ext cx="5359663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Share of specified-mode listings delivered remotely or virtually.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572482" y="4283373"/>
            <a:ext cx="4555713" cy="4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83.7%</a:t>
            </a:r>
            <a:endParaRPr lang="en-US" sz="3650"/>
          </a:p>
        </p:txBody>
      </p:sp>
      <p:sp>
        <p:nvSpPr>
          <p:cNvPr id="19" name="Text 17"/>
          <p:cNvSpPr/>
          <p:nvPr/>
        </p:nvSpPr>
        <p:spPr>
          <a:xfrm>
            <a:off x="6170458" y="4907161"/>
            <a:ext cx="535976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USD Dominance</a:t>
            </a:r>
            <a:endParaRPr lang="en-US" sz="1350"/>
          </a:p>
        </p:txBody>
      </p:sp>
      <p:sp>
        <p:nvSpPr>
          <p:cNvPr id="20" name="Text 18"/>
          <p:cNvSpPr/>
          <p:nvPr/>
        </p:nvSpPr>
        <p:spPr>
          <a:xfrm>
            <a:off x="6170458" y="5198368"/>
            <a:ext cx="535976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Proportion of total scholarship funding denominated in US dollars.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661475" y="557589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5871865"/>
            <a:ext cx="587251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Dominant Category:</a:t>
            </a: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10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Internship</a:t>
            </a: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1,589 listings (27.7% of total platform volume)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6273643" y="5871865"/>
            <a:ext cx="587251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Remote Split:</a:t>
            </a: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10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55% Work From Home</a:t>
            </a: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/ 45% Virtual among remote-classified listings</a:t>
            </a:r>
            <a:endParaRPr lang="en-US" sz="11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AFAC7A-AA26-10B0-CA5C-1180CAA96E98}"/>
              </a:ext>
            </a:extLst>
          </p:cNvPr>
          <p:cNvSpPr txBox="1"/>
          <p:nvPr/>
        </p:nvSpPr>
        <p:spPr>
          <a:xfrm>
            <a:off x="5945157" y="2012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</a:t>
            </a:r>
            <a:endParaRPr lang="en-Z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528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Historical Sign-up Trends &amp; Seasonality</a:t>
            </a:r>
            <a:endParaRPr lang="en-US" sz="21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18183"/>
            <a:ext cx="7064595" cy="395773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5133082"/>
            <a:ext cx="470880" cy="163413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sp>
        <p:nvSpPr>
          <p:cNvPr id="5" name="Text 2"/>
          <p:cNvSpPr/>
          <p:nvPr/>
        </p:nvSpPr>
        <p:spPr>
          <a:xfrm>
            <a:off x="725965" y="5165328"/>
            <a:ext cx="951484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PHASE 1</a:t>
            </a:r>
            <a:endParaRPr lang="en-US" sz="650"/>
          </a:p>
        </p:txBody>
      </p:sp>
      <p:sp>
        <p:nvSpPr>
          <p:cNvPr id="6" name="Text 3"/>
          <p:cNvSpPr/>
          <p:nvPr/>
        </p:nvSpPr>
        <p:spPr>
          <a:xfrm>
            <a:off x="661475" y="5324376"/>
            <a:ext cx="341105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Late 2022 — Early 2023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661475" y="5562104"/>
            <a:ext cx="341105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Initial launch with modest volumes: </a:t>
            </a:r>
            <a:r>
              <a:rPr lang="en-US" sz="80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 listings in Q3 2022</a:t>
            </a:r>
            <a:r>
              <a:rPr lang="en-US" sz="8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scaling to 274 by Q1 2023.</a:t>
            </a:r>
            <a:endParaRPr lang="en-US" sz="800"/>
          </a:p>
        </p:txBody>
      </p:sp>
      <p:sp>
        <p:nvSpPr>
          <p:cNvPr id="8" name="Shape 5"/>
          <p:cNvSpPr/>
          <p:nvPr/>
        </p:nvSpPr>
        <p:spPr>
          <a:xfrm>
            <a:off x="4341009" y="5133082"/>
            <a:ext cx="470880" cy="163413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sp>
        <p:nvSpPr>
          <p:cNvPr id="9" name="Text 6"/>
          <p:cNvSpPr/>
          <p:nvPr/>
        </p:nvSpPr>
        <p:spPr>
          <a:xfrm>
            <a:off x="4405500" y="5165328"/>
            <a:ext cx="951484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PHASE 2</a:t>
            </a:r>
            <a:endParaRPr lang="en-US" sz="650"/>
          </a:p>
        </p:txBody>
      </p:sp>
      <p:sp>
        <p:nvSpPr>
          <p:cNvPr id="10" name="Text 7"/>
          <p:cNvSpPr/>
          <p:nvPr/>
        </p:nvSpPr>
        <p:spPr>
          <a:xfrm>
            <a:off x="4341009" y="5324376"/>
            <a:ext cx="341105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Peak 2023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4341009" y="5562104"/>
            <a:ext cx="341105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Rapid expansion reaching all-time peak in </a:t>
            </a:r>
            <a:r>
              <a:rPr lang="en-US" sz="80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Q3 2023 at 1,051 created listings</a:t>
            </a:r>
            <a:r>
              <a:rPr lang="en-US" sz="8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platform record.</a:t>
            </a:r>
            <a:endParaRPr lang="en-US" sz="800"/>
          </a:p>
        </p:txBody>
      </p:sp>
      <p:sp>
        <p:nvSpPr>
          <p:cNvPr id="12" name="Shape 9"/>
          <p:cNvSpPr/>
          <p:nvPr/>
        </p:nvSpPr>
        <p:spPr>
          <a:xfrm>
            <a:off x="8020544" y="5133082"/>
            <a:ext cx="470880" cy="163413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sp>
        <p:nvSpPr>
          <p:cNvPr id="13" name="Text 10"/>
          <p:cNvSpPr/>
          <p:nvPr/>
        </p:nvSpPr>
        <p:spPr>
          <a:xfrm>
            <a:off x="8085034" y="5165328"/>
            <a:ext cx="951484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PHASE 3</a:t>
            </a:r>
            <a:endParaRPr lang="en-US" sz="650"/>
          </a:p>
        </p:txBody>
      </p:sp>
      <p:sp>
        <p:nvSpPr>
          <p:cNvPr id="14" name="Text 11"/>
          <p:cNvSpPr/>
          <p:nvPr/>
        </p:nvSpPr>
        <p:spPr>
          <a:xfrm>
            <a:off x="8020544" y="5324376"/>
            <a:ext cx="352227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2024 – 2026 Stabilization</a:t>
            </a:r>
            <a:endParaRPr lang="en-US" sz="1050"/>
          </a:p>
        </p:txBody>
      </p:sp>
      <p:sp>
        <p:nvSpPr>
          <p:cNvPr id="15" name="Text 12"/>
          <p:cNvSpPr/>
          <p:nvPr/>
        </p:nvSpPr>
        <p:spPr>
          <a:xfrm>
            <a:off x="8020544" y="5562104"/>
            <a:ext cx="3522277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Market stabilization averaging </a:t>
            </a:r>
            <a:r>
              <a:rPr lang="en-US" sz="80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300–600 listings per quarter</a:t>
            </a:r>
            <a:r>
              <a:rPr lang="en-US" sz="8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Q2 2026 partial quarter reflects 59.</a:t>
            </a:r>
            <a:endParaRPr lang="en-US" sz="800"/>
          </a:p>
        </p:txBody>
      </p:sp>
      <p:sp>
        <p:nvSpPr>
          <p:cNvPr id="16" name="Shape 13"/>
          <p:cNvSpPr/>
          <p:nvPr/>
        </p:nvSpPr>
        <p:spPr>
          <a:xfrm>
            <a:off x="661475" y="5987256"/>
            <a:ext cx="10868745" cy="328116"/>
          </a:xfrm>
          <a:prstGeom prst="roundRect">
            <a:avLst>
              <a:gd name="adj" fmla="val 4915"/>
            </a:avLst>
          </a:prstGeom>
          <a:solidFill>
            <a:srgbClr val="CCD7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26" y="6129040"/>
            <a:ext cx="134339" cy="10745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10716" y="6083895"/>
            <a:ext cx="1102163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Pronounced Q3 surges are structurally tied to academic calendar transitions, followed by routine lulls in Q1 and Q2 — a pattern requiring targeted off-peak engagement strategies.</a:t>
            </a:r>
            <a:endParaRPr lang="en-US" sz="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A84612-6E0F-03E9-E75C-26F02C5F7320}"/>
              </a:ext>
            </a:extLst>
          </p:cNvPr>
          <p:cNvSpPr txBox="1"/>
          <p:nvPr/>
        </p:nvSpPr>
        <p:spPr>
          <a:xfrm>
            <a:off x="5945004" y="1684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Z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3A862-CDF2-C9BA-BF49-D9E4137C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775390-55BD-DA7A-F955-970A80009447}"/>
              </a:ext>
            </a:extLst>
          </p:cNvPr>
          <p:cNvSpPr/>
          <p:nvPr/>
        </p:nvSpPr>
        <p:spPr>
          <a:xfrm>
            <a:off x="661475" y="542528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>
                <a:solidFill>
                  <a:srgbClr val="152D47"/>
                </a:solidFill>
                <a:latin typeface="Crimson Pro SemiBold" pitchFamily="34" charset="0"/>
              </a:rPr>
              <a:t>Distribution of Opportunities by Category</a:t>
            </a:r>
            <a:endParaRPr lang="en-US" sz="210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C0FF39E3-3CF3-C102-4A96-6D273971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26" y="6129040"/>
            <a:ext cx="134339" cy="107454"/>
          </a:xfrm>
          <a:prstGeom prst="rect">
            <a:avLst/>
          </a:prstGeom>
        </p:spPr>
      </p:pic>
      <p:sp>
        <p:nvSpPr>
          <p:cNvPr id="18" name="Text 14">
            <a:extLst>
              <a:ext uri="{FF2B5EF4-FFF2-40B4-BE49-F238E27FC236}">
                <a16:creationId xmlns:a16="http://schemas.microsoft.com/office/drawing/2014/main" id="{190B587F-F37C-6B2C-FA86-4F5C32C7E3BB}"/>
              </a:ext>
            </a:extLst>
          </p:cNvPr>
          <p:cNvSpPr/>
          <p:nvPr/>
        </p:nvSpPr>
        <p:spPr>
          <a:xfrm>
            <a:off x="1010716" y="6083895"/>
            <a:ext cx="1102163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Pronounced Q3 surges are structurally tied to academic calendar transitions, followed by routine lulls in Q1 and Q2 — a pattern requiring targeted off-peak engagement strategies.</a:t>
            </a:r>
            <a:endParaRPr lang="en-US" sz="8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2D9EB3E-F553-EEDC-C03F-B2DA3F62A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54" y="1018080"/>
            <a:ext cx="5852667" cy="345822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F0BDD1-3F38-B4B5-7017-16A4EE0E7F8F}"/>
              </a:ext>
            </a:extLst>
          </p:cNvPr>
          <p:cNvSpPr txBox="1"/>
          <p:nvPr/>
        </p:nvSpPr>
        <p:spPr>
          <a:xfrm>
            <a:off x="7000892" y="1018080"/>
            <a:ext cx="42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Key findings</a:t>
            </a:r>
            <a:endParaRPr lang="en-ZA" sz="24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261C58-F0DA-0124-6431-8F635327C22B}"/>
              </a:ext>
            </a:extLst>
          </p:cNvPr>
          <p:cNvSpPr txBox="1"/>
          <p:nvPr/>
        </p:nvSpPr>
        <p:spPr>
          <a:xfrm>
            <a:off x="7000893" y="1527009"/>
            <a:ext cx="46051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/>
              <a:t>I</a:t>
            </a:r>
            <a:r>
              <a:rPr lang="en-ZA" err="1"/>
              <a:t>nternship</a:t>
            </a:r>
            <a:r>
              <a:rPr lang="en-ZA"/>
              <a:t> represented the largest share of the opportunities.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ZA"/>
              <a:t>Competition and events were also common.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GB">
                <a:solidFill>
                  <a:schemeClr val="accent6">
                    <a:lumMod val="10000"/>
                  </a:schemeClr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masterclasses and program had fewer opportunities.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GB">
                <a:solidFill>
                  <a:schemeClr val="accent6">
                    <a:lumMod val="10000"/>
                  </a:schemeClr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Only a small number of records were classified as “unknown”.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GB">
              <a:solidFill>
                <a:schemeClr val="accent6">
                  <a:lumMod val="10000"/>
                </a:schemeClr>
              </a:solidFill>
              <a:latin typeface="Cambria" panose="02040503050406030204" pitchFamily="34" charset="0"/>
              <a:cs typeface="Cambria" panose="02040503050406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ZA"/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C39106-2F81-7EAD-1BDE-EEE9ABE644DE}"/>
              </a:ext>
            </a:extLst>
          </p:cNvPr>
          <p:cNvSpPr txBox="1"/>
          <p:nvPr/>
        </p:nvSpPr>
        <p:spPr>
          <a:xfrm>
            <a:off x="585955" y="4944140"/>
            <a:ext cx="11020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>
                <a:solidFill>
                  <a:schemeClr val="accent6">
                    <a:lumMod val="10000"/>
                  </a:schemeClr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Most opportunities in the dataset were internships, indicating a strong emphasis on career development and practical learning experiences.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C85735-9C28-E366-D8DA-AB529CD33D7D}"/>
              </a:ext>
            </a:extLst>
          </p:cNvPr>
          <p:cNvSpPr txBox="1"/>
          <p:nvPr/>
        </p:nvSpPr>
        <p:spPr>
          <a:xfrm>
            <a:off x="5945004" y="1731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46626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2756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Delivery Mode &amp; Opportunity Category Distribution</a:t>
            </a:r>
            <a:endParaRPr lang="en-US" sz="3150"/>
          </a:p>
        </p:txBody>
      </p:sp>
      <p:sp>
        <p:nvSpPr>
          <p:cNvPr id="3" name="Text 1"/>
          <p:cNvSpPr/>
          <p:nvPr/>
        </p:nvSpPr>
        <p:spPr>
          <a:xfrm>
            <a:off x="661475" y="1351359"/>
            <a:ext cx="467586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Modality Breakdown</a:t>
            </a:r>
            <a:endParaRPr lang="en-US" sz="15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76214"/>
            <a:ext cx="4675864" cy="3547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498604"/>
            <a:ext cx="4675864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b="1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Core Insight:</a:t>
            </a: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Over </a:t>
            </a:r>
            <a:r>
              <a:rPr lang="en-US" sz="125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75% of classified opportunities</a:t>
            </a: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utilize remote or location-independent delivery modes, reflecting high demand for geographical flexibility.</a:t>
            </a:r>
            <a:endParaRPr lang="en-US" sz="1250"/>
          </a:p>
        </p:txBody>
      </p:sp>
      <p:sp>
        <p:nvSpPr>
          <p:cNvPr id="6" name="Text 3"/>
          <p:cNvSpPr/>
          <p:nvPr/>
        </p:nvSpPr>
        <p:spPr>
          <a:xfrm>
            <a:off x="5734601" y="1351359"/>
            <a:ext cx="580187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Category Breakdown</a:t>
            </a:r>
            <a:endParaRPr lang="en-US" sz="1550"/>
          </a:p>
        </p:txBody>
      </p:sp>
      <p:sp>
        <p:nvSpPr>
          <p:cNvPr id="7" name="Shape 4"/>
          <p:cNvSpPr/>
          <p:nvPr/>
        </p:nvSpPr>
        <p:spPr>
          <a:xfrm>
            <a:off x="5734601" y="1776214"/>
            <a:ext cx="5801870" cy="3255963"/>
          </a:xfrm>
          <a:prstGeom prst="roundRect">
            <a:avLst>
              <a:gd name="adj" fmla="val 73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34601" y="2489200"/>
            <a:ext cx="5801870" cy="100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34601" y="2946698"/>
            <a:ext cx="5801870" cy="100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34601" y="3656509"/>
            <a:ext cx="5801870" cy="100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734601" y="4114006"/>
            <a:ext cx="5801870" cy="100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734601" y="4571504"/>
            <a:ext cx="5801870" cy="100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901185" y="1881981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b="1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Category</a:t>
            </a:r>
            <a:endParaRPr lang="en-US" sz="1250"/>
          </a:p>
        </p:txBody>
      </p:sp>
      <p:sp>
        <p:nvSpPr>
          <p:cNvPr id="14" name="Text 11"/>
          <p:cNvSpPr/>
          <p:nvPr/>
        </p:nvSpPr>
        <p:spPr>
          <a:xfrm>
            <a:off x="7348453" y="1881981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b="1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Listings</a:t>
            </a:r>
            <a:endParaRPr lang="en-US" sz="1250"/>
          </a:p>
        </p:txBody>
      </p:sp>
      <p:sp>
        <p:nvSpPr>
          <p:cNvPr id="15" name="Text 12"/>
          <p:cNvSpPr/>
          <p:nvPr/>
        </p:nvSpPr>
        <p:spPr>
          <a:xfrm>
            <a:off x="8795721" y="1881981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b="1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% Free</a:t>
            </a:r>
            <a:endParaRPr lang="en-US" sz="1250"/>
          </a:p>
        </p:txBody>
      </p:sp>
      <p:sp>
        <p:nvSpPr>
          <p:cNvPr id="16" name="Text 13"/>
          <p:cNvSpPr/>
          <p:nvPr/>
        </p:nvSpPr>
        <p:spPr>
          <a:xfrm>
            <a:off x="10242988" y="1881981"/>
            <a:ext cx="1126998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b="1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Avg Scholarship</a:t>
            </a:r>
            <a:endParaRPr lang="en-US" sz="1250"/>
          </a:p>
        </p:txBody>
      </p:sp>
      <p:sp>
        <p:nvSpPr>
          <p:cNvPr id="17" name="Text 14"/>
          <p:cNvSpPr/>
          <p:nvPr/>
        </p:nvSpPr>
        <p:spPr>
          <a:xfrm>
            <a:off x="5901185" y="2591792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Internship</a:t>
            </a:r>
            <a:endParaRPr lang="en-US" sz="1250"/>
          </a:p>
        </p:txBody>
      </p:sp>
      <p:sp>
        <p:nvSpPr>
          <p:cNvPr id="18" name="Text 15"/>
          <p:cNvSpPr/>
          <p:nvPr/>
        </p:nvSpPr>
        <p:spPr>
          <a:xfrm>
            <a:off x="7348453" y="2591792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1,589</a:t>
            </a:r>
            <a:endParaRPr lang="en-US" sz="1250"/>
          </a:p>
        </p:txBody>
      </p:sp>
      <p:sp>
        <p:nvSpPr>
          <p:cNvPr id="19" name="Text 16"/>
          <p:cNvSpPr/>
          <p:nvPr/>
        </p:nvSpPr>
        <p:spPr>
          <a:xfrm>
            <a:off x="8795721" y="2591792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73.7%</a:t>
            </a:r>
            <a:endParaRPr lang="en-US" sz="1250"/>
          </a:p>
        </p:txBody>
      </p:sp>
      <p:sp>
        <p:nvSpPr>
          <p:cNvPr id="20" name="Text 17"/>
          <p:cNvSpPr/>
          <p:nvPr/>
        </p:nvSpPr>
        <p:spPr>
          <a:xfrm>
            <a:off x="10242988" y="2591792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$165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5901185" y="3049290"/>
            <a:ext cx="1126998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Career Programs</a:t>
            </a:r>
            <a:endParaRPr lang="en-US" sz="1250"/>
          </a:p>
        </p:txBody>
      </p:sp>
      <p:sp>
        <p:nvSpPr>
          <p:cNvPr id="22" name="Text 19"/>
          <p:cNvSpPr/>
          <p:nvPr/>
        </p:nvSpPr>
        <p:spPr>
          <a:xfrm>
            <a:off x="7348453" y="3049290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1,088</a:t>
            </a:r>
            <a:endParaRPr lang="en-US" sz="1250"/>
          </a:p>
        </p:txBody>
      </p:sp>
      <p:sp>
        <p:nvSpPr>
          <p:cNvPr id="23" name="Text 20"/>
          <p:cNvSpPr/>
          <p:nvPr/>
        </p:nvSpPr>
        <p:spPr>
          <a:xfrm>
            <a:off x="8795721" y="3049290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93.4%</a:t>
            </a:r>
            <a:endParaRPr lang="en-US" sz="1250"/>
          </a:p>
        </p:txBody>
      </p:sp>
      <p:sp>
        <p:nvSpPr>
          <p:cNvPr id="24" name="Text 21"/>
          <p:cNvSpPr/>
          <p:nvPr/>
        </p:nvSpPr>
        <p:spPr>
          <a:xfrm>
            <a:off x="10242988" y="3049290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$175</a:t>
            </a:r>
            <a:endParaRPr lang="en-US" sz="1250"/>
          </a:p>
        </p:txBody>
      </p:sp>
      <p:sp>
        <p:nvSpPr>
          <p:cNvPr id="25" name="Text 22"/>
          <p:cNvSpPr/>
          <p:nvPr/>
        </p:nvSpPr>
        <p:spPr>
          <a:xfrm>
            <a:off x="5901185" y="3759101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Competitions</a:t>
            </a:r>
            <a:endParaRPr lang="en-US" sz="1250"/>
          </a:p>
        </p:txBody>
      </p:sp>
      <p:sp>
        <p:nvSpPr>
          <p:cNvPr id="26" name="Text 23"/>
          <p:cNvSpPr/>
          <p:nvPr/>
        </p:nvSpPr>
        <p:spPr>
          <a:xfrm>
            <a:off x="7348453" y="3759101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733</a:t>
            </a:r>
            <a:endParaRPr lang="en-US" sz="1250"/>
          </a:p>
        </p:txBody>
      </p:sp>
      <p:sp>
        <p:nvSpPr>
          <p:cNvPr id="27" name="Text 24"/>
          <p:cNvSpPr/>
          <p:nvPr/>
        </p:nvSpPr>
        <p:spPr>
          <a:xfrm>
            <a:off x="8795721" y="3759101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79.4%</a:t>
            </a:r>
            <a:endParaRPr lang="en-US" sz="1250"/>
          </a:p>
        </p:txBody>
      </p:sp>
      <p:sp>
        <p:nvSpPr>
          <p:cNvPr id="28" name="Text 25"/>
          <p:cNvSpPr/>
          <p:nvPr/>
        </p:nvSpPr>
        <p:spPr>
          <a:xfrm>
            <a:off x="10242988" y="3759101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$203</a:t>
            </a:r>
            <a:endParaRPr lang="en-US" sz="1250"/>
          </a:p>
        </p:txBody>
      </p:sp>
      <p:sp>
        <p:nvSpPr>
          <p:cNvPr id="29" name="Text 26"/>
          <p:cNvSpPr/>
          <p:nvPr/>
        </p:nvSpPr>
        <p:spPr>
          <a:xfrm>
            <a:off x="5901185" y="4216598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Courses</a:t>
            </a:r>
            <a:endParaRPr lang="en-US" sz="1250"/>
          </a:p>
        </p:txBody>
      </p:sp>
      <p:sp>
        <p:nvSpPr>
          <p:cNvPr id="30" name="Text 27"/>
          <p:cNvSpPr/>
          <p:nvPr/>
        </p:nvSpPr>
        <p:spPr>
          <a:xfrm>
            <a:off x="7348453" y="4216598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632</a:t>
            </a:r>
            <a:endParaRPr lang="en-US" sz="1250"/>
          </a:p>
        </p:txBody>
      </p:sp>
      <p:sp>
        <p:nvSpPr>
          <p:cNvPr id="31" name="Text 28"/>
          <p:cNvSpPr/>
          <p:nvPr/>
        </p:nvSpPr>
        <p:spPr>
          <a:xfrm>
            <a:off x="8795721" y="4216598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82.8%</a:t>
            </a:r>
            <a:endParaRPr lang="en-US" sz="1250"/>
          </a:p>
        </p:txBody>
      </p:sp>
      <p:sp>
        <p:nvSpPr>
          <p:cNvPr id="32" name="Text 29"/>
          <p:cNvSpPr/>
          <p:nvPr/>
        </p:nvSpPr>
        <p:spPr>
          <a:xfrm>
            <a:off x="10242988" y="4216598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</a:t>
            </a:r>
            <a:endParaRPr lang="en-US" sz="1250"/>
          </a:p>
        </p:txBody>
      </p:sp>
      <p:sp>
        <p:nvSpPr>
          <p:cNvPr id="33" name="Text 30"/>
          <p:cNvSpPr/>
          <p:nvPr/>
        </p:nvSpPr>
        <p:spPr>
          <a:xfrm>
            <a:off x="5901185" y="4674096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Events</a:t>
            </a:r>
            <a:endParaRPr lang="en-US" sz="1250"/>
          </a:p>
        </p:txBody>
      </p:sp>
      <p:sp>
        <p:nvSpPr>
          <p:cNvPr id="34" name="Text 31"/>
          <p:cNvSpPr/>
          <p:nvPr/>
        </p:nvSpPr>
        <p:spPr>
          <a:xfrm>
            <a:off x="7348453" y="4674096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622</a:t>
            </a:r>
            <a:endParaRPr lang="en-US" sz="1250"/>
          </a:p>
        </p:txBody>
      </p:sp>
      <p:sp>
        <p:nvSpPr>
          <p:cNvPr id="35" name="Text 32"/>
          <p:cNvSpPr/>
          <p:nvPr/>
        </p:nvSpPr>
        <p:spPr>
          <a:xfrm>
            <a:off x="8795721" y="4674096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63.0%</a:t>
            </a:r>
            <a:endParaRPr lang="en-US" sz="1250"/>
          </a:p>
        </p:txBody>
      </p:sp>
      <p:sp>
        <p:nvSpPr>
          <p:cNvPr id="36" name="Text 33"/>
          <p:cNvSpPr/>
          <p:nvPr/>
        </p:nvSpPr>
        <p:spPr>
          <a:xfrm>
            <a:off x="10242988" y="4674096"/>
            <a:ext cx="173658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</a:t>
            </a:r>
            <a:endParaRPr lang="en-US" sz="1250"/>
          </a:p>
        </p:txBody>
      </p:sp>
      <p:sp>
        <p:nvSpPr>
          <p:cNvPr id="37" name="Text 34"/>
          <p:cNvSpPr/>
          <p:nvPr/>
        </p:nvSpPr>
        <p:spPr>
          <a:xfrm>
            <a:off x="5734601" y="5206702"/>
            <a:ext cx="5801870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Competitions yield the highest average scholarship at </a:t>
            </a:r>
            <a:r>
              <a:rPr lang="en-US" sz="125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$203</a:t>
            </a: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while Career Programs lead in free-access rate at </a:t>
            </a:r>
            <a:r>
              <a:rPr lang="en-US" sz="125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93.4%</a:t>
            </a:r>
            <a:r>
              <a:rPr lang="en-US" sz="12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7EE3B3-799C-D075-CE56-8C79CA8FE925}"/>
              </a:ext>
            </a:extLst>
          </p:cNvPr>
          <p:cNvSpPr txBox="1"/>
          <p:nvPr/>
        </p:nvSpPr>
        <p:spPr>
          <a:xfrm>
            <a:off x="5794161" y="934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</a:t>
            </a:r>
            <a:endParaRPr lang="en-Z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372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Aid &amp; Currency Allocation Insights</a:t>
            </a:r>
            <a:endParaRPr lang="en-US" sz="2250"/>
          </a:p>
        </p:txBody>
      </p:sp>
      <p:sp>
        <p:nvSpPr>
          <p:cNvPr id="3" name="Text 1"/>
          <p:cNvSpPr/>
          <p:nvPr/>
        </p:nvSpPr>
        <p:spPr>
          <a:xfrm>
            <a:off x="661475" y="1126629"/>
            <a:ext cx="585068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Scholarship Value Distribution</a:t>
            </a:r>
            <a:endParaRPr lang="en-US" sz="11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98588"/>
            <a:ext cx="4095449" cy="28108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300538"/>
            <a:ext cx="5850684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67.4%</a:t>
            </a:r>
            <a:r>
              <a:rPr lang="en-US" sz="9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listings fall into the $101–$200 band, indicating standard corporate/institutional funding limits rather than individualized awards. High-value scholarships ($1,001+) are reserved for top-tier competitions and specialized programs.</a:t>
            </a:r>
            <a:endParaRPr lang="en-US" sz="900"/>
          </a:p>
        </p:txBody>
      </p:sp>
      <p:sp>
        <p:nvSpPr>
          <p:cNvPr id="6" name="Text 3"/>
          <p:cNvSpPr/>
          <p:nvPr/>
        </p:nvSpPr>
        <p:spPr>
          <a:xfrm>
            <a:off x="6800878" y="1126629"/>
            <a:ext cx="473559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Global Currency Breakdown</a:t>
            </a:r>
            <a:endParaRPr lang="en-US" sz="11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78" y="1398588"/>
            <a:ext cx="3314915" cy="25151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8179" y="3992166"/>
            <a:ext cx="4748292" cy="4446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41964" y="4004866"/>
            <a:ext cx="459450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USD — 83.7% ($837,019)</a:t>
            </a:r>
            <a:endParaRPr lang="en-US" sz="1100"/>
          </a:p>
        </p:txBody>
      </p:sp>
      <p:sp>
        <p:nvSpPr>
          <p:cNvPr id="10" name="Text 5"/>
          <p:cNvSpPr/>
          <p:nvPr/>
        </p:nvSpPr>
        <p:spPr>
          <a:xfrm>
            <a:off x="6941964" y="4266704"/>
            <a:ext cx="459450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Dominant funding currency across the platform.</a:t>
            </a:r>
            <a:endParaRPr lang="en-US" sz="90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8179" y="4573488"/>
            <a:ext cx="4748292" cy="4446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41964" y="4586188"/>
            <a:ext cx="459450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INR — 8.5% ($84,509)</a:t>
            </a:r>
            <a:endParaRPr lang="en-US" sz="1100"/>
          </a:p>
        </p:txBody>
      </p:sp>
      <p:sp>
        <p:nvSpPr>
          <p:cNvPr id="13" name="Text 7"/>
          <p:cNvSpPr/>
          <p:nvPr/>
        </p:nvSpPr>
        <p:spPr>
          <a:xfrm>
            <a:off x="6941964" y="4848027"/>
            <a:ext cx="459450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South Asian regional pool; significantly underfunded relative to demand.</a:t>
            </a:r>
            <a:endParaRPr lang="en-US" sz="90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8179" y="5154811"/>
            <a:ext cx="4748292" cy="4446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41964" y="5167511"/>
            <a:ext cx="459450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EUR — 7.8% ($78,028)</a:t>
            </a:r>
            <a:endParaRPr lang="en-US" sz="1100"/>
          </a:p>
        </p:txBody>
      </p:sp>
      <p:sp>
        <p:nvSpPr>
          <p:cNvPr id="16" name="Text 9"/>
          <p:cNvSpPr/>
          <p:nvPr/>
        </p:nvSpPr>
        <p:spPr>
          <a:xfrm>
            <a:off x="6941964" y="5429349"/>
            <a:ext cx="459450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European market dependent on a comparatively small local currency pool.</a:t>
            </a:r>
            <a:endParaRPr lang="en-US" sz="900"/>
          </a:p>
        </p:txBody>
      </p:sp>
      <p:sp>
        <p:nvSpPr>
          <p:cNvPr id="17" name="Shape 10"/>
          <p:cNvSpPr/>
          <p:nvPr/>
        </p:nvSpPr>
        <p:spPr>
          <a:xfrm>
            <a:off x="661475" y="5768975"/>
            <a:ext cx="10868745" cy="526554"/>
          </a:xfrm>
          <a:prstGeom prst="roundRect">
            <a:avLst>
              <a:gd name="adj" fmla="val 3298"/>
            </a:avLst>
          </a:prstGeom>
          <a:solidFill>
            <a:srgbClr val="FCF2B5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161" y="5920184"/>
            <a:ext cx="144657" cy="11568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37505" y="5878810"/>
            <a:ext cx="1037702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Platform funding is heavily dollar-denominated, leaving European and South Asian regional markets dependent on smaller local currency pools — a structural equity gap requiring targeted corporate partnerships.</a:t>
            </a:r>
            <a:endParaRPr lang="en-US" sz="9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EF2A63-3384-946B-509C-98132D50D429}"/>
              </a:ext>
            </a:extLst>
          </p:cNvPr>
          <p:cNvSpPr txBox="1"/>
          <p:nvPr/>
        </p:nvSpPr>
        <p:spPr>
          <a:xfrm>
            <a:off x="5945004" y="1930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9</a:t>
            </a:r>
            <a:endParaRPr lang="en-Z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6E294-B69A-84BD-0B33-057A980B2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EEAA19-D879-6870-8245-8088077E5A62}"/>
              </a:ext>
            </a:extLst>
          </p:cNvPr>
          <p:cNvSpPr/>
          <p:nvPr/>
        </p:nvSpPr>
        <p:spPr>
          <a:xfrm>
            <a:off x="661475" y="725356"/>
            <a:ext cx="10868745" cy="561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 Dashboard</a:t>
            </a:r>
            <a:endParaRPr lang="en-US" sz="275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E254D69-35FF-0466-B334-C01AADA13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6540"/>
            <a:ext cx="12192000" cy="557146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D5884D6-CD2B-C347-C5E5-98F05E37984C}"/>
              </a:ext>
            </a:extLst>
          </p:cNvPr>
          <p:cNvSpPr txBox="1"/>
          <p:nvPr/>
        </p:nvSpPr>
        <p:spPr>
          <a:xfrm>
            <a:off x="5886495" y="35087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7837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FA3170-BC8A-0229-D935-AD214B60B509}"/>
              </a:ext>
            </a:extLst>
          </p:cNvPr>
          <p:cNvSpPr txBox="1"/>
          <p:nvPr/>
        </p:nvSpPr>
        <p:spPr>
          <a:xfrm>
            <a:off x="589280" y="568960"/>
            <a:ext cx="274305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Major Insights</a:t>
            </a:r>
            <a:endParaRPr lang="en-US" sz="3200"/>
          </a:p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502CB7-3051-E937-F5AD-EA9635E1A684}"/>
              </a:ext>
            </a:extLst>
          </p:cNvPr>
          <p:cNvSpPr/>
          <p:nvPr/>
        </p:nvSpPr>
        <p:spPr>
          <a:xfrm>
            <a:off x="995680" y="1320800"/>
            <a:ext cx="10200640" cy="4866640"/>
          </a:xfrm>
          <a:prstGeom prst="rect">
            <a:avLst/>
          </a:prstGeom>
          <a:solidFill>
            <a:srgbClr val="2150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GB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 pitchFamily="34" charset="0"/>
                <a:ea typeface="SimSun"/>
                <a:cs typeface="Cambria" panose="02040503050406030204" pitchFamily="34" charset="0"/>
              </a:rPr>
              <a:t>A total of 5729 opportunities were analyzed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GB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 pitchFamily="34" charset="0"/>
                <a:ea typeface="SimSun"/>
                <a:cs typeface="Cambria" panose="02040503050406030204" pitchFamily="34" charset="0"/>
              </a:rPr>
              <a:t>2024 recorded the highest number of opportunities created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GB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 pitchFamily="34" charset="0"/>
                <a:ea typeface="SimSun"/>
                <a:cs typeface="Cambria" panose="02040503050406030204" pitchFamily="34" charset="0"/>
              </a:rPr>
              <a:t>Internships were the most common opportunity category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GB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 pitchFamily="34" charset="0"/>
                <a:ea typeface="SimSun"/>
                <a:cs typeface="Cambria" panose="02040503050406030204" pitchFamily="34" charset="0"/>
              </a:rPr>
              <a:t>Most opportunities offered micro scholarship of 120, while some had no scholarship.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GB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 pitchFamily="34" charset="0"/>
                <a:ea typeface="SimSun"/>
                <a:cs typeface="Cambria" panose="02040503050406030204" pitchFamily="34" charset="0"/>
              </a:rPr>
              <a:t>Opportunities were concentrated in a few locations and organizations.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GB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 pitchFamily="34" charset="0"/>
                <a:ea typeface="SimSun"/>
                <a:cs typeface="Cambria" panose="02040503050406030204" pitchFamily="34" charset="0"/>
              </a:rPr>
              <a:t>Opportunities availability varied over time, showing clear growth and decline patterns.</a:t>
            </a:r>
          </a:p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C25425-2829-284B-F6A1-CE24A57A45DC}"/>
              </a:ext>
            </a:extLst>
          </p:cNvPr>
          <p:cNvSpPr txBox="1"/>
          <p:nvPr/>
        </p:nvSpPr>
        <p:spPr>
          <a:xfrm>
            <a:off x="5628640" y="221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80009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7B7F8B-C29C-3BE5-EB92-8D039D9B510C}"/>
              </a:ext>
            </a:extLst>
          </p:cNvPr>
          <p:cNvSpPr txBox="1"/>
          <p:nvPr/>
        </p:nvSpPr>
        <p:spPr>
          <a:xfrm>
            <a:off x="355600" y="254000"/>
            <a:ext cx="308770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152D47"/>
                </a:solidFill>
                <a:latin typeface="Crimson Pro SemiBold" pitchFamily="34" charset="0"/>
              </a:rPr>
              <a:t>Key Takeaways</a:t>
            </a:r>
            <a:endParaRPr lang="en-US" sz="3200"/>
          </a:p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FB2229-1523-EA68-6A1E-335ED9CE4D87}"/>
              </a:ext>
            </a:extLst>
          </p:cNvPr>
          <p:cNvSpPr/>
          <p:nvPr/>
        </p:nvSpPr>
        <p:spPr>
          <a:xfrm>
            <a:off x="686034" y="953214"/>
            <a:ext cx="3489726" cy="5823506"/>
          </a:xfrm>
          <a:prstGeom prst="rect">
            <a:avLst/>
          </a:prstGeom>
          <a:solidFill>
            <a:srgbClr val="2150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>
              <a:solidFill>
                <a:srgbClr val="FFFFFF"/>
              </a:solidFill>
              <a:latin typeface="Cambria" panose="02040503050406030204" pitchFamily="34" charset="0"/>
              <a:ea typeface="SimSu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35289-F3C0-D18C-5999-5BA865F9CC70}"/>
              </a:ext>
            </a:extLst>
          </p:cNvPr>
          <p:cNvSpPr/>
          <p:nvPr/>
        </p:nvSpPr>
        <p:spPr>
          <a:xfrm>
            <a:off x="4323313" y="958294"/>
            <a:ext cx="3723407" cy="5823506"/>
          </a:xfrm>
          <a:prstGeom prst="rect">
            <a:avLst/>
          </a:prstGeom>
          <a:solidFill>
            <a:srgbClr val="2150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>
              <a:solidFill>
                <a:srgbClr val="FFFFFF"/>
              </a:solidFill>
              <a:latin typeface="Cambria" panose="02040503050406030204" pitchFamily="34" charset="0"/>
              <a:ea typeface="SimSu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ADF158-5198-7C34-55FA-F5D79BE44BF1}"/>
              </a:ext>
            </a:extLst>
          </p:cNvPr>
          <p:cNvSpPr/>
          <p:nvPr/>
        </p:nvSpPr>
        <p:spPr>
          <a:xfrm>
            <a:off x="8194273" y="953214"/>
            <a:ext cx="3642127" cy="5823506"/>
          </a:xfrm>
          <a:prstGeom prst="rect">
            <a:avLst/>
          </a:prstGeom>
          <a:solidFill>
            <a:srgbClr val="2150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>
              <a:solidFill>
                <a:srgbClr val="FFFFFF"/>
              </a:solidFill>
              <a:latin typeface="Cambria" panose="02040503050406030204" pitchFamily="34" charset="0"/>
              <a:ea typeface="SimSu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3BBEE8-F39A-42E5-E28A-CA6A17D56130}"/>
              </a:ext>
            </a:extLst>
          </p:cNvPr>
          <p:cNvSpPr txBox="1"/>
          <p:nvPr/>
        </p:nvSpPr>
        <p:spPr>
          <a:xfrm>
            <a:off x="686034" y="1115774"/>
            <a:ext cx="348972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	Data Cleaning</a:t>
            </a:r>
            <a:br>
              <a:rPr lang="en-US" sz="2000">
                <a:solidFill>
                  <a:schemeClr val="bg1"/>
                </a:solidFill>
              </a:rPr>
            </a:b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• The dataset has a total listings of 5,728</a:t>
            </a:r>
            <a:br>
              <a:rPr lang="en-US">
                <a:solidFill>
                  <a:schemeClr val="bg1"/>
                </a:solidFill>
              </a:rPr>
            </a:b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• Missing values, duplicate records, inconsistent categories, and unnecessary columns were addressed to improve data quality.</a:t>
            </a:r>
            <a:br>
              <a:rPr lang="en-US">
                <a:solidFill>
                  <a:schemeClr val="bg1"/>
                </a:solidFill>
              </a:rPr>
            </a:b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• The cleaned dataset provided a reliable foundation for accurate analysis and dashboard reporting.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E538F0-27D7-2936-F3A1-0E8EAD1D2D4C}"/>
              </a:ext>
            </a:extLst>
          </p:cNvPr>
          <p:cNvSpPr txBox="1"/>
          <p:nvPr/>
        </p:nvSpPr>
        <p:spPr>
          <a:xfrm>
            <a:off x="4323313" y="1026160"/>
            <a:ext cx="372340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Insights </a:t>
            </a:r>
          </a:p>
          <a:p>
            <a:pPr algn="ctr"/>
            <a:endParaRPr lang="en-US" sz="20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Internships were the most common opportunity category</a:t>
            </a:r>
          </a:p>
          <a:p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Work From Home and Virtual made up the largest share of delivery modes, showing the growing importance of remote opportunities.</a:t>
            </a:r>
          </a:p>
          <a:p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In  scholarship value distribution, 67.4% listings fall into the 101-200 with USD as the dominant currency </a:t>
            </a:r>
          </a:p>
          <a:p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2023 recorded the highest number of sign-ups, indicating the highest level of engagement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910F40-3718-A930-6C34-4C16D7D94EA9}"/>
              </a:ext>
            </a:extLst>
          </p:cNvPr>
          <p:cNvSpPr txBox="1"/>
          <p:nvPr/>
        </p:nvSpPr>
        <p:spPr>
          <a:xfrm>
            <a:off x="8194273" y="1115774"/>
            <a:ext cx="36421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Recommendation</a:t>
            </a:r>
          </a:p>
          <a:p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Run special campaigns at the first half of the year to encourage early registration</a:t>
            </a:r>
          </a:p>
          <a:p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Important fields should be made compulsory for users to complete</a:t>
            </a:r>
          </a:p>
          <a:p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Partner with more organizations in Europe and South Asia to promote more scholarships in Euros and Rupees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82E548-EC5A-308F-FEDA-6137921E28C4}"/>
              </a:ext>
            </a:extLst>
          </p:cNvPr>
          <p:cNvSpPr txBox="1"/>
          <p:nvPr/>
        </p:nvSpPr>
        <p:spPr>
          <a:xfrm>
            <a:off x="5541692" y="76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641232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9347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Strategic Recommendations</a:t>
            </a:r>
            <a:endParaRPr lang="en-US" sz="2900"/>
          </a:p>
        </p:txBody>
      </p:sp>
      <p:sp>
        <p:nvSpPr>
          <p:cNvPr id="3" name="Text 1"/>
          <p:cNvSpPr/>
          <p:nvPr/>
        </p:nvSpPr>
        <p:spPr>
          <a:xfrm>
            <a:off x="661475" y="1008063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Action Plan for Growth &amp; Operational Excellence</a:t>
            </a:r>
            <a:endParaRPr lang="en-US" sz="1450"/>
          </a:p>
        </p:txBody>
      </p:sp>
      <p:sp>
        <p:nvSpPr>
          <p:cNvPr id="4" name="Shape 2"/>
          <p:cNvSpPr/>
          <p:nvPr/>
        </p:nvSpPr>
        <p:spPr>
          <a:xfrm>
            <a:off x="661475" y="1441450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717234" y="1469281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1130272" y="1492548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Flatten Seasonal Volatility</a:t>
            </a:r>
            <a:endParaRPr lang="en-US" sz="1450"/>
          </a:p>
        </p:txBody>
      </p:sp>
      <p:sp>
        <p:nvSpPr>
          <p:cNvPr id="7" name="Text 5"/>
          <p:cNvSpPr/>
          <p:nvPr/>
        </p:nvSpPr>
        <p:spPr>
          <a:xfrm>
            <a:off x="1130272" y="1805384"/>
            <a:ext cx="1039994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Launch targeted Q1/Q2 early-registration drives and Winter/Spring Micro-Internships to eliminate early-year engagement dips and reduce dependence on Q3 surges.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661475" y="2525713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717234" y="2553543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750"/>
          </a:p>
        </p:txBody>
      </p:sp>
      <p:sp>
        <p:nvSpPr>
          <p:cNvPr id="10" name="Text 8"/>
          <p:cNvSpPr/>
          <p:nvPr/>
        </p:nvSpPr>
        <p:spPr>
          <a:xfrm>
            <a:off x="1130272" y="2576810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Diversify Category Offerings</a:t>
            </a:r>
            <a:endParaRPr lang="en-US" sz="1450"/>
          </a:p>
        </p:txBody>
      </p:sp>
      <p:sp>
        <p:nvSpPr>
          <p:cNvPr id="11" name="Text 9"/>
          <p:cNvSpPr/>
          <p:nvPr/>
        </p:nvSpPr>
        <p:spPr>
          <a:xfrm>
            <a:off x="1130272" y="2889647"/>
            <a:ext cx="1039994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Expand non-internship categories — mentorships, research grants, skill bootcamps — to reduce reliance on internships (currently 27.7% of all listings) and broaden platform appeal.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61475" y="3609975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17234" y="3637806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750"/>
          </a:p>
        </p:txBody>
      </p:sp>
      <p:sp>
        <p:nvSpPr>
          <p:cNvPr id="14" name="Text 12"/>
          <p:cNvSpPr/>
          <p:nvPr/>
        </p:nvSpPr>
        <p:spPr>
          <a:xfrm>
            <a:off x="1130272" y="3661073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Strengthen Data Collection Protocols</a:t>
            </a:r>
            <a:endParaRPr lang="en-US" sz="1450"/>
          </a:p>
        </p:txBody>
      </p:sp>
      <p:sp>
        <p:nvSpPr>
          <p:cNvPr id="15" name="Text 13"/>
          <p:cNvSpPr/>
          <p:nvPr/>
        </p:nvSpPr>
        <p:spPr>
          <a:xfrm>
            <a:off x="1130272" y="3973909"/>
            <a:ext cx="1039994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Enforce mandatory input fields for location, delivery format, and currency details to eliminate missing data and improve future analytical precision.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661475" y="4468019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717234" y="449585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750"/>
          </a:p>
        </p:txBody>
      </p:sp>
      <p:sp>
        <p:nvSpPr>
          <p:cNvPr id="18" name="Text 16"/>
          <p:cNvSpPr/>
          <p:nvPr/>
        </p:nvSpPr>
        <p:spPr>
          <a:xfrm>
            <a:off x="1130272" y="4519116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Regionalize Financial Aid Pools</a:t>
            </a:r>
            <a:endParaRPr lang="en-US" sz="1450"/>
          </a:p>
        </p:txBody>
      </p:sp>
      <p:sp>
        <p:nvSpPr>
          <p:cNvPr id="19" name="Text 17"/>
          <p:cNvSpPr/>
          <p:nvPr/>
        </p:nvSpPr>
        <p:spPr>
          <a:xfrm>
            <a:off x="1130272" y="4831953"/>
            <a:ext cx="1039994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Establish corporate partnerships in Europe and South Asia to scale EUR and INR funding pools beyond their current 8.5% and 7.8% shares of total scholarship value.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661475" y="5552281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717234" y="5580112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750"/>
          </a:p>
        </p:txBody>
      </p:sp>
      <p:sp>
        <p:nvSpPr>
          <p:cNvPr id="22" name="Text 20"/>
          <p:cNvSpPr/>
          <p:nvPr/>
        </p:nvSpPr>
        <p:spPr>
          <a:xfrm>
            <a:off x="1130272" y="5603379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Optimize Remote Offerings</a:t>
            </a:r>
            <a:endParaRPr lang="en-US" sz="1450"/>
          </a:p>
        </p:txBody>
      </p:sp>
      <p:sp>
        <p:nvSpPr>
          <p:cNvPr id="23" name="Text 21"/>
          <p:cNvSpPr/>
          <p:nvPr/>
        </p:nvSpPr>
        <p:spPr>
          <a:xfrm>
            <a:off x="1130272" y="5916216"/>
            <a:ext cx="1039994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Prioritize partnerships offering verified Work From Home/Virtual setups to align with the 75%+ user preference for location-independent delivery already evidenced in the data.</a:t>
            </a:r>
            <a:endParaRPr lang="en-US" sz="115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A45E3D-43B3-245C-5613-3726B73C21EF}"/>
              </a:ext>
            </a:extLst>
          </p:cNvPr>
          <p:cNvSpPr txBox="1"/>
          <p:nvPr/>
        </p:nvSpPr>
        <p:spPr>
          <a:xfrm>
            <a:off x="5886495" y="1200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16</a:t>
            </a:r>
            <a:endParaRPr lang="en-Z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82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 &amp; Internship Reflection</a:t>
            </a:r>
            <a:endParaRPr lang="en-US" sz="3250"/>
          </a:p>
        </p:txBody>
      </p:sp>
      <p:sp>
        <p:nvSpPr>
          <p:cNvPr id="3" name="Text 1"/>
          <p:cNvSpPr/>
          <p:nvPr/>
        </p:nvSpPr>
        <p:spPr>
          <a:xfrm>
            <a:off x="661475" y="144829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Conclusion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661475" y="1872059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Opportunity Analytics project successfully converted complex multi-year data into clear visual insights, proving strong market adoption in flexible remote internships while pinpointing clear operational levers for future growth.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661475" y="3157835"/>
            <a:ext cx="5232666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404195"/>
            <a:ext cx="2533686" cy="1018977"/>
          </a:xfrm>
          <a:prstGeom prst="roundRect">
            <a:avLst>
              <a:gd name="adj" fmla="val 2435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826769" y="3569494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5,728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826769" y="3993257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Records analyzed end-to-end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3360455" y="3404195"/>
            <a:ext cx="2533686" cy="1018977"/>
          </a:xfrm>
          <a:prstGeom prst="roundRect">
            <a:avLst>
              <a:gd name="adj" fmla="val 2435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3525749" y="3569494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$920K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3525749" y="3993257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Scholarship pool mapped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661475" y="4588470"/>
            <a:ext cx="5232666" cy="1018977"/>
          </a:xfrm>
          <a:prstGeom prst="roundRect">
            <a:avLst>
              <a:gd name="adj" fmla="val 2435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826769" y="4753769"/>
            <a:ext cx="49020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 Years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826769" y="5177532"/>
            <a:ext cx="490207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Q3 2022 – Q2 2026 coverage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6303904" y="144829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Team Reflection &amp; Growth</a:t>
            </a:r>
            <a:endParaRPr lang="en-US" sz="160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5914" y="1897856"/>
            <a:ext cx="248041" cy="24804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41259" y="1892796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End-to-End Workflow Mastery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6841259" y="2316559"/>
            <a:ext cx="469531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Gained hands-on expertise spanning Data Cleaning, Exploratory Data Analysis, SQL/Python standards, Power BI dashboard construction, and executive reporting.</a:t>
            </a:r>
            <a:endParaRPr lang="en-US" sz="130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5914" y="3446165"/>
            <a:ext cx="248041" cy="2480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41259" y="3441105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Collaborative Success</a:t>
            </a:r>
            <a:endParaRPr lang="en-US" sz="1600"/>
          </a:p>
        </p:txBody>
      </p:sp>
      <p:sp>
        <p:nvSpPr>
          <p:cNvPr id="21" name="Text 17"/>
          <p:cNvSpPr/>
          <p:nvPr/>
        </p:nvSpPr>
        <p:spPr>
          <a:xfrm>
            <a:off x="6841259" y="3864868"/>
            <a:ext cx="469531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Demonstrated effective team synergy across roles — Lead, PM, Scribe, Analysts — to deliver presentation-ready business intelligence from raw operational data.</a:t>
            </a:r>
            <a:endParaRPr lang="en-US" sz="1300"/>
          </a:p>
        </p:txBody>
      </p:sp>
      <p:sp>
        <p:nvSpPr>
          <p:cNvPr id="22" name="Shape 18"/>
          <p:cNvSpPr/>
          <p:nvPr/>
        </p:nvSpPr>
        <p:spPr>
          <a:xfrm>
            <a:off x="6303904" y="4886027"/>
            <a:ext cx="5232666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6303904" y="5132388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b="1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Team 7</a:t>
            </a:r>
            <a:r>
              <a:rPr lang="en-US" sz="13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Data Visualization Trainee Early Remote Internship</a:t>
            </a:r>
            <a:endParaRPr lang="en-US" sz="130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30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Niranjan Kumar Dasari · Ademola Alaanu · Tumo Matsena · Ritah Munyeti · Madhuri Yanamala · Mounika C · Chinyere Cynthia Okwara · Vanmathi</a:t>
            </a:r>
            <a:endParaRPr lang="en-US" sz="13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72937E-4D37-AAC1-4A8D-F345875C95F4}"/>
              </a:ext>
            </a:extLst>
          </p:cNvPr>
          <p:cNvSpPr txBox="1"/>
          <p:nvPr/>
        </p:nvSpPr>
        <p:spPr>
          <a:xfrm>
            <a:off x="5885200" y="2092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7C6FD-5E37-0436-5716-6B4930D53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4DF572-6479-48A5-DB01-2E9B6B726C52}"/>
              </a:ext>
            </a:extLst>
          </p:cNvPr>
          <p:cNvSpPr/>
          <p:nvPr/>
        </p:nvSpPr>
        <p:spPr>
          <a:xfrm>
            <a:off x="661475" y="5182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</a:rPr>
              <a:t>Week 1 – Week 4 Projects</a:t>
            </a:r>
            <a:endParaRPr lang="en-US" sz="3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B581DE-9450-FB53-1F09-AB4521983BF7}"/>
              </a:ext>
            </a:extLst>
          </p:cNvPr>
          <p:cNvSpPr/>
          <p:nvPr/>
        </p:nvSpPr>
        <p:spPr>
          <a:xfrm>
            <a:off x="661475" y="144829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>
                <a:solidFill>
                  <a:srgbClr val="152D47"/>
                </a:solidFill>
                <a:latin typeface="Crimson Pro SemiBold" pitchFamily="34" charset="0"/>
              </a:rPr>
              <a:t>Week 1 Deliverables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2FB8FD-1657-968C-0D62-117B83075797}"/>
              </a:ext>
            </a:extLst>
          </p:cNvPr>
          <p:cNvSpPr txBox="1"/>
          <p:nvPr/>
        </p:nvSpPr>
        <p:spPr>
          <a:xfrm>
            <a:off x="569760" y="1746250"/>
            <a:ext cx="962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accent6">
                    <a:lumMod val="10000"/>
                  </a:schemeClr>
                </a:solidFill>
                <a:latin typeface="Arial" panose="020B0604020202020204"/>
                <a:ea typeface="Arial" panose="020B0604020202020204"/>
                <a:hlinkClick r:id="rId3"/>
              </a:rPr>
              <a:t>https://drive.google.com/file/d/1jjkGyU82bBa6_xHF6K4Yc3uCjUgvOyP-/view?usp=drive_link</a:t>
            </a:r>
            <a:endParaRPr lang="en-US" altLang="zh-CN">
              <a:solidFill>
                <a:schemeClr val="accent6">
                  <a:lumMod val="10000"/>
                </a:schemeClr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E81337-A0C5-FD01-6FCF-A344AD38273A}"/>
              </a:ext>
            </a:extLst>
          </p:cNvPr>
          <p:cNvSpPr txBox="1"/>
          <p:nvPr/>
        </p:nvSpPr>
        <p:spPr>
          <a:xfrm>
            <a:off x="569759" y="2489679"/>
            <a:ext cx="4537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rimson Pro SemiBold" panose="020B0604020202020204" charset="0"/>
              </a:rPr>
              <a:t>Week 2 Deliverables</a:t>
            </a:r>
            <a:endParaRPr lang="en-ZA" dirty="0">
              <a:latin typeface="Crimson Pro SemiBold" panose="020B060402020202020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E2C824-70D9-96D5-5F08-DFF08FE7256D}"/>
              </a:ext>
            </a:extLst>
          </p:cNvPr>
          <p:cNvSpPr txBox="1"/>
          <p:nvPr/>
        </p:nvSpPr>
        <p:spPr>
          <a:xfrm>
            <a:off x="569759" y="2970119"/>
            <a:ext cx="9977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Arial" panose="020B0604020202020204"/>
                <a:ea typeface="Arial" panose="020B0604020202020204"/>
                <a:hlinkClick r:id="rId4"/>
              </a:rPr>
              <a:t>https://drive.google.com/file/d/1_h5Dj7dsgzCYNnmZUFUmI5vvOHiZTodQ/view?usp=drive_link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5ED02C-10DB-FD4E-33C3-0F1F6001B091}"/>
              </a:ext>
            </a:extLst>
          </p:cNvPr>
          <p:cNvSpPr txBox="1"/>
          <p:nvPr/>
        </p:nvSpPr>
        <p:spPr>
          <a:xfrm>
            <a:off x="569759" y="3641929"/>
            <a:ext cx="639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rimson Pro SemiBold" panose="020B0604020202020204" charset="0"/>
              </a:rPr>
              <a:t>Week 3 Deliverables</a:t>
            </a:r>
            <a:endParaRPr lang="en-ZA" dirty="0">
              <a:latin typeface="Crimson Pro SemiBold" panose="020B060402020202020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D4A8FE-A2AA-B22F-4F82-4A3EE3E83164}"/>
              </a:ext>
            </a:extLst>
          </p:cNvPr>
          <p:cNvSpPr txBox="1"/>
          <p:nvPr/>
        </p:nvSpPr>
        <p:spPr>
          <a:xfrm>
            <a:off x="569759" y="4147848"/>
            <a:ext cx="9977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dirty="0">
                <a:solidFill>
                  <a:schemeClr val="accent6">
                    <a:lumMod val="10000"/>
                  </a:schemeClr>
                </a:solidFill>
                <a:hlinkClick r:id="rId5"/>
              </a:rPr>
              <a:t>https://drive.google.com/file/d/1Png1z1DVeZGIA9_cPwTGKfqATwzvdFTA/view?usp=drive_link</a:t>
            </a:r>
            <a:endParaRPr lang="en-US" altLang="en-GB" dirty="0">
              <a:solidFill>
                <a:schemeClr val="accent6">
                  <a:lumMod val="10000"/>
                </a:schemeClr>
              </a:solidFill>
            </a:endParaRPr>
          </a:p>
          <a:p>
            <a:endParaRPr lang="en-ZA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933AEF-75A5-4C56-5C0D-58CC53C1D9B0}"/>
              </a:ext>
            </a:extLst>
          </p:cNvPr>
          <p:cNvSpPr txBox="1"/>
          <p:nvPr/>
        </p:nvSpPr>
        <p:spPr>
          <a:xfrm>
            <a:off x="5886495" y="1488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</a:t>
            </a:r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91773-FAFB-3737-CED3-745E6465F52E}"/>
              </a:ext>
            </a:extLst>
          </p:cNvPr>
          <p:cNvSpPr txBox="1"/>
          <p:nvPr/>
        </p:nvSpPr>
        <p:spPr>
          <a:xfrm>
            <a:off x="569759" y="4739288"/>
            <a:ext cx="2574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rimson Pro SemiBold" panose="020B0604020202020204" charset="0"/>
              </a:rPr>
              <a:t>Team Presentation Video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041DC-B333-9C0D-B9CE-5B1F4BF685A2}"/>
              </a:ext>
            </a:extLst>
          </p:cNvPr>
          <p:cNvSpPr txBox="1"/>
          <p:nvPr/>
        </p:nvSpPr>
        <p:spPr>
          <a:xfrm>
            <a:off x="569759" y="5089953"/>
            <a:ext cx="9005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6"/>
              </a:rPr>
              <a:t>https://drive.google.com/file/d/1gGeELwIyVN6-so5Mhawq9UAVP_JlL5Bl/view?usp=drive_link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9789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1630</Words>
  <Application>Microsoft Office PowerPoint</Application>
  <PresentationFormat>Widescreen</PresentationFormat>
  <Paragraphs>226</Paragraphs>
  <Slides>15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Tumo_ Matsena</dc:creator>
  <cp:lastModifiedBy>Tia blaq</cp:lastModifiedBy>
  <cp:revision>2</cp:revision>
  <dcterms:created xsi:type="dcterms:W3CDTF">2026-07-30T13:16:34Z</dcterms:created>
  <dcterms:modified xsi:type="dcterms:W3CDTF">2026-08-02T13:58:55Z</dcterms:modified>
</cp:coreProperties>
</file>